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3" d="100"/>
          <a:sy n="163" d="100"/>
        </p:scale>
        <p:origin x="174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7255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14884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COMPREHENSIVE REPORT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40080" y="246888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DigiSteel-</a:t>
            </a:r>
            <a:r>
              <a:rPr lang="en-US" sz="4000" b="1" dirty="0">
                <a:solidFill>
                  <a:srgbClr val="E844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YOLO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58368" y="3794760"/>
            <a:ext cx="1005840" cy="0"/>
          </a:xfrm>
          <a:prstGeom prst="line">
            <a:avLst/>
          </a:prstGeom>
          <a:noFill/>
          <a:ln w="31750">
            <a:solidFill>
              <a:srgbClr val="E8442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3977640"/>
            <a:ext cx="3200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Steel Surface Defect Detection</a:t>
            </a:r>
            <a:endParaRPr lang="en-US" sz="1400" dirty="0"/>
          </a:p>
          <a:p>
            <a:pPr marL="0" indent="0">
              <a:lnSpc>
                <a:spcPts val="200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Enhanced YOLO Architectures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09160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844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81.0%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4709160" y="31272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mAP@0.5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709160" y="3401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YOLOv26n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196328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45.2%</a:t>
            </a:r>
            <a:endParaRPr lang="en-US" sz="4000" dirty="0"/>
          </a:p>
        </p:txBody>
      </p:sp>
      <p:sp>
        <p:nvSpPr>
          <p:cNvPr id="11" name="Text 9"/>
          <p:cNvSpPr/>
          <p:nvPr/>
        </p:nvSpPr>
        <p:spPr>
          <a:xfrm>
            <a:off x="7196328" y="31272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mAP@0.5:0.95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196328" y="3401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Baseline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9683496" y="2331720"/>
            <a:ext cx="2331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83%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683496" y="3127248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mAP@0.5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9683496" y="340156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 2.0%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09160" y="44805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NEU-DET BENCHMARK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4709160" y="47365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Classes • 1,800 Images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75320" y="448056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75320" y="473659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experiments over 4 weeks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709160" y="5257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FRAMEWORK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709160" y="5513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Ultralytics YOLO / PyTorch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275320" y="52578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275320" y="551383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RTX 2000 Ada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709160" y="62636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July 12,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From 75.8% to 81.0% mAP@0.5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18 experiments in 4 weeks, mAP@0.5 climbed from a 75.8% baseline to 81.0% with YOLOv26n. DAFE alone added a consistent +1.5%, with +8.3% on the hardest class.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4344619"/>
            <a:ext cx="1014984" cy="1096061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4052011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75.8%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5495544"/>
            <a:ext cx="1197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Old Baseline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1700784" y="3777691"/>
            <a:ext cx="1014984" cy="1662989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1609344" y="3485083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79.4%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1609344" y="5495544"/>
            <a:ext cx="1197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Baseline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852928" y="3494227"/>
            <a:ext cx="1014984" cy="1946453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2761488" y="3201619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80.3%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761488" y="5495544"/>
            <a:ext cx="1197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DAFE v4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005072" y="3361944"/>
            <a:ext cx="1014984" cy="2078736"/>
          </a:xfrm>
          <a:prstGeom prst="rect">
            <a:avLst/>
          </a:prstGeom>
          <a:solidFill>
            <a:srgbClr val="E8442C"/>
          </a:solidFill>
          <a:ln/>
        </p:spPr>
      </p:sp>
      <p:sp>
        <p:nvSpPr>
          <p:cNvPr id="15" name="Text 13"/>
          <p:cNvSpPr/>
          <p:nvPr/>
        </p:nvSpPr>
        <p:spPr>
          <a:xfrm>
            <a:off x="3913632" y="3069336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81.0%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913632" y="5495544"/>
            <a:ext cx="1197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YOLOv26n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5157216" y="2983992"/>
            <a:ext cx="1014984" cy="2456688"/>
          </a:xfrm>
          <a:prstGeom prst="rect">
            <a:avLst/>
          </a:prstGeom>
          <a:solidFill>
            <a:srgbClr val="D9DCE3"/>
          </a:solidFill>
          <a:ln/>
        </p:spPr>
      </p:sp>
      <p:sp>
        <p:nvSpPr>
          <p:cNvPr id="18" name="Text 16"/>
          <p:cNvSpPr/>
          <p:nvPr/>
        </p:nvSpPr>
        <p:spPr>
          <a:xfrm>
            <a:off x="5065776" y="2691384"/>
            <a:ext cx="119786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3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83.3%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65776" y="5495544"/>
            <a:ext cx="11978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85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75120" y="1874520"/>
          <a:ext cx="4937760" cy="3950208"/>
        </p:xfrm>
        <a:graphic>
          <a:graphicData uri="http://schemas.openxmlformats.org/drawingml/2006/table">
            <a:tbl>
              <a:tblPr/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mAP@0.5:0.95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 Score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Inference FPS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Crazing AP (hardest)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to target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2.0%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DATASET PROFILE — NEU-DET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1,800 Images, 6 Defect Classes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NEU-DET benchmark provides 1,800 grayscale images across 6 defect classes, split 70/20/10 with a moderate 2.34× class imbalance.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2606040" cy="1097280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562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44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1,800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685800" y="2423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IMAGES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319272" y="1783080"/>
            <a:ext cx="2606040" cy="1097280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9" name="Text 7"/>
          <p:cNvSpPr/>
          <p:nvPr/>
        </p:nvSpPr>
        <p:spPr>
          <a:xfrm>
            <a:off x="3456432" y="18562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44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4,189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3456432" y="2423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ANNOTATIONS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6089904" y="1783080"/>
            <a:ext cx="2606040" cy="1097280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12" name="Text 10"/>
          <p:cNvSpPr/>
          <p:nvPr/>
        </p:nvSpPr>
        <p:spPr>
          <a:xfrm>
            <a:off x="6227064" y="18562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44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200×200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227064" y="2423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 SIZE (grayscale)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860536" y="1783080"/>
            <a:ext cx="2606040" cy="1097280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15" name="Text 13"/>
          <p:cNvSpPr/>
          <p:nvPr/>
        </p:nvSpPr>
        <p:spPr>
          <a:xfrm>
            <a:off x="8997696" y="1856232"/>
            <a:ext cx="2377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44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2.34×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997696" y="242316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 RATIO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548640" y="306324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 Overview</a:t>
            </a:r>
            <a:endParaRPr lang="en-US" sz="125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401568"/>
          <a:ext cx="5394960" cy="2414016"/>
        </p:xfrm>
        <a:graphic>
          <a:graphicData uri="http://schemas.openxmlformats.org/drawingml/2006/table">
            <a:tbl>
              <a:tblPr/>
              <a:tblGrid>
                <a:gridCol w="2697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97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/ Val / Test Split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1,290 / 344 / 166 (70/20/10)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Classes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Gini Coefficient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Edge-touching bboxes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Blurry images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6263640" y="3063240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 Bounding Box Statistics</a:t>
            </a:r>
            <a:endParaRPr lang="en-US" sz="1250" dirty="0"/>
          </a:p>
        </p:txBody>
      </p:sp>
      <p:graphicFrame>
        <p:nvGraphicFramePr>
          <p:cNvPr id="20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401568"/>
          <a:ext cx="5394960" cy="1463040"/>
        </p:xfrm>
        <a:graphic>
          <a:graphicData uri="http://schemas.openxmlformats.org/drawingml/2006/table">
            <a:tbl>
              <a:tblPr/>
              <a:tblGrid>
                <a:gridCol w="1798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8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71.4 px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55.0 px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95.0 px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 px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6,980 px²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4,715 px²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1" name="Text 17"/>
          <p:cNvSpPr/>
          <p:nvPr/>
        </p:nvSpPr>
        <p:spPr>
          <a:xfrm>
            <a:off x="6263640" y="516636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1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size distribution: Small (&lt;5%) 10.7%  •  Medium (5–15%) 66.2%  •  Large (&gt;15%) 23.1%</a:t>
            </a:r>
            <a:endParaRPr lang="en-US" sz="1150" dirty="0"/>
          </a:p>
        </p:txBody>
      </p:sp>
      <p:sp>
        <p:nvSpPr>
          <p:cNvPr id="22" name="Text 1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23" name="Text 1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 CLASS DISTRIBUTION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Crazing: The Hardest, Least-Weighted Class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70432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defect classes range from 432 to 1,011 images. Crazing sits mid-pack in count and weight, yet is flagged as the hardest class to detect.</a:t>
            </a:r>
            <a:endParaRPr lang="en-US" sz="12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28800"/>
          <a:ext cx="11109960" cy="2944368"/>
        </p:xfrm>
        <a:graphic>
          <a:graphicData uri="http://schemas.openxmlformats.org/drawingml/2006/table">
            <a:tbl>
              <a:tblPr/>
              <a:tblGrid>
                <a:gridCol w="27774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7749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Count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Inv. Freq. Weight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 Level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1,011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881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crazing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689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0.936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HARDEST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rolled-in_scale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1.027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548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1.176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062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pitted_surface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1.492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Medium-Hard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846320"/>
            <a:ext cx="11109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takeaway: </a:t>
            </a:r>
            <a:r>
              <a:rPr lang="en-US" sz="13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crazing has a mid-range weight and image count, yet remains the single hardest class to detect throughout the entire project — the challenge is textural, not just about sample scarcity.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 MASTER RESULTS TABLE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18 Experiments, 4 Weeks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run log: recipe tuning (Exp 08) and DAFE (Exp 10) delivered the biggest gains; YOLOv26n (Exp 15) set the final best mAP@0.5 of 81.0%.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80380002"/>
              </p:ext>
            </p:extLst>
          </p:nvPr>
        </p:nvGraphicFramePr>
        <p:xfrm>
          <a:off x="411480" y="1691640"/>
          <a:ext cx="11384280" cy="4297680"/>
        </p:xfrm>
        <a:graphic>
          <a:graphicData uri="http://schemas.openxmlformats.org/drawingml/2006/table">
            <a:tbl>
              <a:tblPr/>
              <a:tblGrid>
                <a:gridCol w="1264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26492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mAP50:95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Baseline (v1)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DigiSteel Complete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 2 Ablation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Wk3 A1 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41.6%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Wk3 A2 Arch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DAFE v4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v11n+D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 Stage 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 Stage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TL+DAFE v1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v11n+D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62.0%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−15.5%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TL+DAFE v2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v11n+D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YOLOv26n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v26n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v26n TL Stg1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v26n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−4.4%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697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16b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v26n TL Stg2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v26n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548640" y="6144768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Delta relative to old baseline (75.8%) for exp 01–07, fresh baseline (78.8%) for exp 08+. Red = best mAP@0.5 result.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 PER-CLASS AP@0.5 BREAKDOWN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Crazing: 13.3% → 55.1% Across the Project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4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AP@0.5 across every major checkpoint. Most classes plateau above 78% once the recipe is fixed; crazing keeps climbing but stays well behind.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54308475"/>
              </p:ext>
            </p:extLst>
          </p:nvPr>
        </p:nvGraphicFramePr>
        <p:xfrm>
          <a:off x="548640" y="1783080"/>
          <a:ext cx="11109960" cy="2688336"/>
        </p:xfrm>
        <a:graphic>
          <a:graphicData uri="http://schemas.openxmlformats.org/drawingml/2006/table">
            <a:tbl>
              <a:tblPr/>
              <a:tblGrid>
                <a:gridCol w="13887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38874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Base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Wk3 A1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Wk3 A2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DAFE v4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 Stg2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v26n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crazing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inclusion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84.7%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92.8%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87.9%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pitted_surface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82.2%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rolled-in_scale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77.9%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scratches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97.3%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98.6%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734561"/>
            <a:ext cx="11109960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5" name="Text 4"/>
          <p:cNvSpPr/>
          <p:nvPr/>
        </p:nvSpPr>
        <p:spPr>
          <a:xfrm>
            <a:off x="822960" y="4939457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RESULT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22960" y="513892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Crazing (hardest class) improved from 13.3% to 55.1% — a 41.8 percentage-point gain across the project.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3.1 PHASE 1 — WEEKS 1–3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Initial Baseline &amp; Failed Attempts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early experiments tried module stacking, config tweaks, and a bigger model — all fell short of the 75.8% baseline or barely matched it.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3611880" cy="3566160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901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215798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Old Baseline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77240" y="26334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75.8%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777240" y="32918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YOLOv11n + GhostConv + WFCA + EMA (6 custom modules). mosaic=1.0, imgsz=800.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4343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+0.1% over vanilla YOLOv11n. Attention stacking failure — modules learned to ignore each other.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737360"/>
            <a:ext cx="3611880" cy="3566160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12" name="Text 10"/>
          <p:cNvSpPr/>
          <p:nvPr/>
        </p:nvSpPr>
        <p:spPr>
          <a:xfrm>
            <a:off x="4617720" y="1901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06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17720" y="215798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3 A1: Config Fix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617720" y="26334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74.8%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4617720" y="32918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mosaic=0, mixup=0.15, degrees=10, translate=0.2, scale=0.6, shear=5, epochs=400.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17720" y="4343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−1.0%. Removing mosaic alone hurt augmentation diversity.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229600" y="1737360"/>
            <a:ext cx="3611880" cy="3566160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18" name="Text 16"/>
          <p:cNvSpPr/>
          <p:nvPr/>
        </p:nvSpPr>
        <p:spPr>
          <a:xfrm>
            <a:off x="8458200" y="1901952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07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458200" y="2157984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Week 3 A2: Architecture Fix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58200" y="2633472"/>
            <a:ext cx="3154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E9EDF3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73.4%</a:t>
            </a:r>
            <a:endParaRPr lang="en-US" sz="2700" dirty="0"/>
          </a:p>
        </p:txBody>
      </p:sp>
      <p:sp>
        <p:nvSpPr>
          <p:cNvPr id="21" name="Text 19"/>
          <p:cNvSpPr/>
          <p:nvPr/>
        </p:nvSpPr>
        <p:spPr>
          <a:xfrm>
            <a:off x="8458200" y="329184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Upgraded to YOLOv11s (2× capacity) + Standard Conv + CoordAttention at P3.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458200" y="4343400"/>
            <a:ext cx="3154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i="1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−2.4%. YOLOv11s overfit severely on only 1,200 training images.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486400"/>
            <a:ext cx="11109960" cy="777240"/>
          </a:xfrm>
          <a:prstGeom prst="rect">
            <a:avLst/>
          </a:prstGeom>
          <a:solidFill>
            <a:srgbClr val="2A1A16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60527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b="1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 </a:t>
            </a:r>
            <a:r>
              <a:rPr lang="en-US" sz="12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naive config changes and architecture upsizing failed. A systematic, recipe-first approach was needed.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3.2 PHASE 2 — WEEK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Recipe Optimization &amp; DAFE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tuned training recipe alone lifted mAP by +3.0%; adding the DAFE module on top pushed precision and crazing detection further still.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49240" cy="420624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47088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08 — FRESH BASELINE (THE BREAKTHROUGH)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22960" y="2148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78.8%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822960" y="2834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22960" y="3246120"/>
            <a:ext cx="4846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Recipe: AdamW, lr0=0.001, 600 epochs, patience=150, cos_lr=True, mosaic=0.0, mixup=0.15, copy_paste=0.1, imgsz=800, label_smoothing=0.01.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822960" y="416052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13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78.8% mAP@0.5, 45.2% mAP@0.5:0.95 (+3.0%). Training time: 2.57 hours.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22960" y="4663440"/>
            <a:ext cx="48463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i="1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Verdict: Biggest single improvement in the entire project. Proper recipe optimization matters more than architecture changes.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035040" y="1691640"/>
            <a:ext cx="5623560" cy="42062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309360" y="1847088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10 — DAFE v4 (NOVEL ARCHITECTURE)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309360" y="214884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80.3%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6309360" y="28346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mAP@0.5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309360" y="32461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Architecture: YOLOv11n + DAFE (Defect-Aware Feature Enhancement) at P2 and P3.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309360" y="365760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DAFE Design: Dual-branch — Sobel EdgeConv (linear defects) + local variance TextureBranch (surface anomalies) + SE channel attention + learnable residual (α_init=−2.2).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309360" y="4663440"/>
            <a:ext cx="51206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80.3% mAP@0.5 (+1.5%). Precision: 85.2% (+13.3%). FPS: 110.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Crazing: +8.3%, Inclusion: +3.6%, Scratches: +1.3%.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5989320"/>
            <a:ext cx="11109960" cy="548640"/>
          </a:xfrm>
          <a:prstGeom prst="rect">
            <a:avLst/>
          </a:prstGeom>
          <a:solidFill>
            <a:srgbClr val="FDEDEA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6080760"/>
            <a:ext cx="10652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LESSON:  </a:t>
            </a:r>
            <a:r>
              <a:rPr lang="en-US" sz="1100" dirty="0">
                <a:solidFill>
                  <a:srgbClr val="13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well-designed module (DAFE = +1.5%) beats six stacked modules (GhostConv+WFCA+EMA = +0.1%).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3.3 PHASE 3 — TRANSFER LEARNING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Two-Stage TL &amp; a Critical Failure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gave modest gains alone, but combining it with DAFE caused a catastrophic collapse — and hurt YOLOv26n too.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481328"/>
            <a:ext cx="5349240" cy="2011680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0020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 12–13 — TWO-STAGE TRANSFER LEARNING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822960" y="201168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79.4%</a:t>
            </a:r>
            <a:endParaRPr lang="en-US" sz="2500" dirty="0"/>
          </a:p>
        </p:txBody>
      </p:sp>
      <p:sp>
        <p:nvSpPr>
          <p:cNvPr id="8" name="Text 6"/>
          <p:cNvSpPr/>
          <p:nvPr/>
        </p:nvSpPr>
        <p:spPr>
          <a:xfrm>
            <a:off x="822960" y="2542032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 (Head-only): 77.8% mAP@0.5 (−1.0%). Stage 2 (Fine-tune all): 79.4% mAP@0.5 (+0.6%).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822960" y="3035808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gains: Inclusion +5.4%, Crazing +7.1%. Modest improvement — from-scratch with proper recipe is competitive.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035040" y="1481328"/>
            <a:ext cx="5623560" cy="2011680"/>
          </a:xfrm>
          <a:prstGeom prst="rect">
            <a:avLst/>
          </a:prstGeom>
          <a:solidFill>
            <a:srgbClr val="2A1A16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1600200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 14a — TL + DAFE v1 (CRITICAL FAILURE)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309360" y="196596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442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63.3%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309360" y="246888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−15.5% (catastrophic). DAFE modules inserted into a fine-tuned model disrupted learned features.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309360" y="3017520"/>
            <a:ext cx="51206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50" i="1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Recovery (14b): 78.6% mAP@0.5 (−0.2%). Managed to recover baseline but DAFE gave no additional benefit with TL.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675888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3.4 Phase 4 — YOLOv26n Investigation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48640" y="4041648"/>
            <a:ext cx="5349240" cy="1371600"/>
          </a:xfrm>
          <a:prstGeom prst="rect">
            <a:avLst/>
          </a:prstGeom>
          <a:solidFill>
            <a:srgbClr val="16201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33088"/>
            <a:ext cx="4846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3FA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15 — YOLOv26n FROM SCRATCH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822960" y="4389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81.0%</a:t>
            </a:r>
            <a:endParaRPr lang="en-US" sz="2300" dirty="0"/>
          </a:p>
        </p:txBody>
      </p:sp>
      <p:sp>
        <p:nvSpPr>
          <p:cNvPr id="19" name="Text 17"/>
          <p:cNvSpPr/>
          <p:nvPr/>
        </p:nvSpPr>
        <p:spPr>
          <a:xfrm>
            <a:off x="2926080" y="4434840"/>
            <a:ext cx="2880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YOLOv26n (~2.9M params). Crazing: 55.1% (best across all). Training: 3.19 hours.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4041648"/>
            <a:ext cx="5623560" cy="1371600"/>
          </a:xfrm>
          <a:prstGeom prst="rect">
            <a:avLst/>
          </a:prstGeom>
          <a:solidFill>
            <a:srgbClr val="2A1A16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4133088"/>
            <a:ext cx="5120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kern="0" spc="3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 16 — YOLOv26n TRANSFER LEARNING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309360" y="43891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75.6%</a:t>
            </a:r>
            <a:endParaRPr lang="en-US" sz="2300" dirty="0"/>
          </a:p>
        </p:txBody>
      </p:sp>
      <p:sp>
        <p:nvSpPr>
          <p:cNvPr id="23" name="Text 21"/>
          <p:cNvSpPr/>
          <p:nvPr/>
        </p:nvSpPr>
        <p:spPr>
          <a:xfrm>
            <a:off x="8412480" y="443484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9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 1: 74.4% (−4.4%). Stage 2: 75.6% (−3.2%). TL HURT YOLOv26n — COCO weights conflicted with steel domain.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48640" y="5596128"/>
            <a:ext cx="11109960" cy="566928"/>
          </a:xfrm>
          <a:prstGeom prst="rect">
            <a:avLst/>
          </a:prstGeom>
          <a:solidFill>
            <a:srgbClr val="1A2130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5669280"/>
            <a:ext cx="10652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INSIGHT:  </a:t>
            </a:r>
            <a:r>
              <a:rPr lang="en-US" sz="105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is overrated for this dataset. From-scratch training with proper recipe matched or beat TL in most configurations.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7840" y="257049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ROBUSTNESS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367451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6 Perturbation Types × 4 Severity Levels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888661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models degrade sharply under blur and noise. DAFE trades some robustness in those areas for stronger resilience to motion blur and JPEG compression.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244260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4.1 Baseline Robustness (YOLOv11n Fresh Baseline)</a:t>
            </a:r>
            <a:endParaRPr lang="en-US" sz="1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370071"/>
              </p:ext>
            </p:extLst>
          </p:nvPr>
        </p:nvGraphicFramePr>
        <p:xfrm>
          <a:off x="548640" y="1553799"/>
          <a:ext cx="5532121" cy="3040380"/>
        </p:xfrm>
        <a:graphic>
          <a:graphicData uri="http://schemas.openxmlformats.org/drawingml/2006/table">
            <a:tbl>
              <a:tblPr/>
              <a:tblGrid>
                <a:gridCol w="7903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03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030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030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030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9030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9030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 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 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 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 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Drop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Blur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54.1%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24.1%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−53.7%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Blur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34.4%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−30.1%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Noise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8.7%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−63.2%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 Shift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Reduction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70.0%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59.9%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36.6%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−22.3%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 Compression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66.1%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39.2%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−29.6%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309360" y="1261192"/>
            <a:ext cx="5303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3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4.3 Robustness Comparison</a:t>
            </a:r>
            <a:endParaRPr lang="en-US" sz="14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37690551"/>
              </p:ext>
            </p:extLst>
          </p:nvPr>
        </p:nvGraphicFramePr>
        <p:xfrm>
          <a:off x="6309360" y="1570734"/>
          <a:ext cx="5349240" cy="2606649"/>
        </p:xfrm>
        <a:graphic>
          <a:graphicData uri="http://schemas.openxmlformats.org/drawingml/2006/table">
            <a:tbl>
              <a:tblPr/>
              <a:tblGrid>
                <a:gridCol w="10698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984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 Type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DAFE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Winner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Blur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29.8%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Blur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57.7%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+10.4%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−0.9%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 Shift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9923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 Compression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+7.1%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7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661756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3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4.2 DAFE Robustness (Early DAFE Model, 75.9% mAP)</a:t>
            </a:r>
            <a:endParaRPr lang="en-US" sz="1050" dirty="0"/>
          </a:p>
        </p:txBody>
      </p:sp>
      <p:graphicFrame>
        <p:nvGraphicFramePr>
          <p:cNvPr id="31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470357"/>
              </p:ext>
            </p:extLst>
          </p:nvPr>
        </p:nvGraphicFramePr>
        <p:xfrm>
          <a:off x="540174" y="4936538"/>
          <a:ext cx="11109959" cy="1813560"/>
        </p:xfrm>
        <a:graphic>
          <a:graphicData uri="http://schemas.openxmlformats.org/drawingml/2006/table">
            <a:tbl>
              <a:tblPr/>
              <a:tblGrid>
                <a:gridCol w="15871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8713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14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Perturbation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 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Lvl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Avg Drop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Blur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−56.3%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Motion Blur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53.1%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Gaussian Noise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−65.7%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Brightness Shift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74.7%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−4.0%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Contrast Reduction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30.6%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−28.5%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140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JPEG Compression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69.4%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67.9%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55.2%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−14.3%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Text 8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ARCHITECTURE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DAFE Trades Recall for Real-World Robustness</a:t>
            </a:r>
            <a:endParaRPr lang="en-US" sz="23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109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YOLOv26n leads on raw mAP@0.5, but YOLOv11n+DAFE wins on precision and FPS — each model suits a different deployment priority.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536192"/>
            <a:ext cx="11109960" cy="868680"/>
          </a:xfrm>
          <a:prstGeom prst="rect">
            <a:avLst/>
          </a:prstGeom>
          <a:solidFill>
            <a:srgbClr val="16201A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45920"/>
            <a:ext cx="1060704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3FA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INSIGHT:  </a:t>
            </a:r>
            <a:r>
              <a:rPr lang="en-US" sz="16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DAFE shows better robustness to motion blur (+10.4%) and JPEG compression (+7.1%) — common in real-world cameras. The baseline is more robust to Gaussian blur, noise, brightness, and contrast.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42032"/>
            <a:ext cx="4572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5.1 Model Comparison</a:t>
            </a:r>
            <a:endParaRPr lang="en-US" sz="125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5420136"/>
              </p:ext>
            </p:extLst>
          </p:nvPr>
        </p:nvGraphicFramePr>
        <p:xfrm>
          <a:off x="548640" y="2889504"/>
          <a:ext cx="11109960" cy="1828800"/>
        </p:xfrm>
        <a:graphic>
          <a:graphicData uri="http://schemas.openxmlformats.org/drawingml/2006/table">
            <a:tbl>
              <a:tblPr/>
              <a:tblGrid>
                <a:gridCol w="18516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516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mAP50:95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FPS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 Time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YOLOv11n (baseline)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2.62M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45.2%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2.57h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YOLOv11n + DAFE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~2.94M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3.51h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YOLOv11s (failed)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9.46M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YOLOv26n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~2.9M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43.1%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3.19h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48640" y="5029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DAFE </a:t>
            </a: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Detail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5349240"/>
            <a:ext cx="11109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4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DAFE (Defect-Aware Feature Enhancement) is the core novelty of DigiSteel-YOLO. Placed at P2 (80×80 at imgsz=640, highest spatial resolution) and P3 (40×40) — not P4/P5, which lose fine-grained spatial info critical for defect detection.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8" name="Text 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5.2 DAFE ARCHITECTURE DETAIL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Four Components of the DAFE Module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DAFE combines edge and texture branches with channel attention and a learnable residual, so it starts small and learns how much to contribute.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349240" cy="17830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822960" y="203911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039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389888" y="202082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EDGE BRANCH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822960" y="258775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Conv2d(C, C//2, 3×3) initialized with Sobel-X/Y filters. All weights learnable. Targets linear defects (scratches, crazing).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783080"/>
            <a:ext cx="5349240" cy="17830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1" name="Shape 9"/>
          <p:cNvSpPr/>
          <p:nvPr/>
        </p:nvSpPr>
        <p:spPr>
          <a:xfrm>
            <a:off x="6446520" y="203911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03911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013448" y="202082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TEXTURE BRANCH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46520" y="258775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AvgPool(3×3) → local variance (E[X²]−E[X]²) → Conv1×1. Lightweight. Targets surface anomalies (inclusions, pitting).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794760"/>
            <a:ext cx="5349240" cy="17830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6" name="Shape 14"/>
          <p:cNvSpPr/>
          <p:nvPr/>
        </p:nvSpPr>
        <p:spPr>
          <a:xfrm>
            <a:off x="822960" y="405079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050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389888" y="403250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CHANNEL ATTENTION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822960" y="459943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SE-style squeeze-excitation after concatenation of both branches. Learns which features matter most.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72200" y="3794760"/>
            <a:ext cx="5349240" cy="178308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1" name="Shape 19"/>
          <p:cNvSpPr/>
          <p:nvPr/>
        </p:nvSpPr>
        <p:spPr>
          <a:xfrm>
            <a:off x="6446520" y="4050792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4050792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013448" y="4032504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LEARNABLE RESIDUAL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446520" y="4599432"/>
            <a:ext cx="4846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50"/>
              </a:lnSpc>
              <a:buNone/>
            </a:pPr>
            <a:r>
              <a:rPr lang="en-US" sz="10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= x + sigmoid(α_raw) × enhanced. α_init = −2.2 → sigmoid ≈ 0.1 (starts small, learns to contribute).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943600"/>
            <a:ext cx="11109960" cy="457200"/>
          </a:xfrm>
          <a:prstGeom prst="rect">
            <a:avLst/>
          </a:prstGeom>
          <a:solidFill>
            <a:srgbClr val="FDEDEA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6016752"/>
            <a:ext cx="10652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Placement:  </a:t>
            </a:r>
            <a:r>
              <a:rPr lang="en-US" sz="1100" dirty="0">
                <a:solidFill>
                  <a:srgbClr val="1316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DAFE sits at P2 and P3 — the highest-resolution feature maps — where fine-grained defect signal survives.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TRAINING CONFIGURATION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Recipe &amp; Transfer Learning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parameter behind the Fresh Baseline recipe, plus the two-stage transfer learning setup used in later experiments.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6.1 Main Recipe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5573317"/>
              </p:ext>
            </p:extLst>
          </p:nvPr>
        </p:nvGraphicFramePr>
        <p:xfrm>
          <a:off x="548640" y="1993392"/>
          <a:ext cx="7040880" cy="3822192"/>
        </p:xfrm>
        <a:graphic>
          <a:graphicData uri="http://schemas.openxmlformats.org/drawingml/2006/table">
            <a:tbl>
              <a:tblPr/>
              <a:tblGrid>
                <a:gridCol w="192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Rationale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Optimizer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AdamW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Better generalization for small datasets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LR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Conservative for fine-grained features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Sufficient with early stopping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Patience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premature stopping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Size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4× upscale from 200px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Ruins fine features at high upscale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Mixup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Light mixup for class diversity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Copy-Paste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0.1(later removed)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Augmentation for rare classes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Label Smoothing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Prevents overconfident predictions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Cosine LR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decay schedule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863840" y="1564638"/>
            <a:ext cx="3794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6.2 Transfer Learning</a:t>
            </a:r>
            <a:endParaRPr lang="en-US" sz="1200" dirty="0"/>
          </a:p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</a:t>
            </a:r>
            <a:endParaRPr lang="en-US" sz="12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2188815"/>
              </p:ext>
            </p:extLst>
          </p:nvPr>
        </p:nvGraphicFramePr>
        <p:xfrm>
          <a:off x="7863840" y="2108199"/>
          <a:ext cx="3794760" cy="2331720"/>
        </p:xfrm>
        <a:graphic>
          <a:graphicData uri="http://schemas.openxmlformats.org/drawingml/2006/table">
            <a:tbl>
              <a:tblPr/>
              <a:tblGrid>
                <a:gridCol w="868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029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Frozen Layers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Epochs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1 (Head)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Backbone+Neck (0–22)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Head (23)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50–100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Stage 2 (Fine-tune)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0.0001–0.0005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100–200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7863840" y="4719321"/>
            <a:ext cx="3794760" cy="1764792"/>
          </a:xfrm>
          <a:prstGeom prst="rect">
            <a:avLst/>
          </a:prstGeom>
          <a:solidFill>
            <a:srgbClr val="2A1A16"/>
          </a:solidFill>
          <a:ln/>
        </p:spPr>
      </p:sp>
      <p:sp>
        <p:nvSpPr>
          <p:cNvPr id="10" name="Text 6"/>
          <p:cNvSpPr/>
          <p:nvPr/>
        </p:nvSpPr>
        <p:spPr>
          <a:xfrm>
            <a:off x="8092440" y="5186682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mosaic is off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092440" y="5360755"/>
            <a:ext cx="33832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 imgsz=800 (4× upscale from 200px source images), mosaic augmentation destroys the fine-grained texture that distinguishes defect classes like crazing.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LITERATURE 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NEU-DET mAP@0.5 vs Published 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a clean, leakage-free 70/20/10 split, DigiSteel-YOLO's 81.0% sits near the honest state-of-the-art ceiling for this benchmark.</a:t>
            </a:r>
            <a:endParaRPr lang="en-US" sz="125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649585"/>
              </p:ext>
            </p:extLst>
          </p:nvPr>
        </p:nvGraphicFramePr>
        <p:xfrm>
          <a:off x="548640" y="1828800"/>
          <a:ext cx="11109960" cy="292608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7091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mAP@0.5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Comparable?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KDM-YOLO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YOLO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95.4%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trains at native 200×200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LAM-YOLOv10n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YOLOv10n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94.4%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likely data leakage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YOLOv11-EMD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94.9%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— extra Severstal data (7×)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ASFRW-YOLO (Nature)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YOLOv5s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83.2%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clean 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YOLO-LSDI (MDPI)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dirty="0">
                          <a:solidFill>
                            <a:srgbClr val="13161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83.0%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clean protocol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DigiSteel (ours)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v11n+DAFE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clean 70/20/10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DigiSteel (ours)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3C445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YOLOv26n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6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81.0%</a:t>
                      </a:r>
                      <a:endParaRPr lang="en-US" sz="16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 — clean 70/20/10 split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48640" y="4983480"/>
            <a:ext cx="11109960" cy="12801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" y="5120640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00" b="1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ASSESSMENT:  </a:t>
            </a: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ceiling under clean 70/20/10 split at imgsz=800: ~83–85% mAP@0.5. Current gap to ceiling: 2.0–4.0% (YOLOv26n). Many published results above 90% use questionable protocols (data leakage, extra data, or native resolution training).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KEY FINDINGS &amp; LESSONS LEARNED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What Worked, What Failed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tuning and DAFE drove every real gain; oversized models and mismatched transfer learning were the costliest failures.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6276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3FAE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8.1 What Worked</a:t>
            </a:r>
            <a:endParaRPr lang="en-US" sz="1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305619"/>
              </p:ext>
            </p:extLst>
          </p:nvPr>
        </p:nvGraphicFramePr>
        <p:xfrm>
          <a:off x="548640" y="1920240"/>
          <a:ext cx="5349240" cy="2596896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Confidence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20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Recipe optimization &gt; architecture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+3.0%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DAFE on strong baseline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+1.5% mAP, +8.3% crazing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imgsz=800 for 200px images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Mosaic enabled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YOLOv26n &gt; YOLOv11n from scratch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+2.2%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5661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good module &gt; six stacked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+1.5% vs +0.1%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3FAE7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035040" y="1627632"/>
            <a:ext cx="5349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8.2 What Failed</a:t>
            </a:r>
            <a:endParaRPr lang="en-US" sz="1600" dirty="0"/>
          </a:p>
        </p:txBody>
      </p:sp>
      <p:graphicFrame>
        <p:nvGraphicFramePr>
          <p:cNvPr id="3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731092"/>
              </p:ext>
            </p:extLst>
          </p:nvPr>
        </p:nvGraphicFramePr>
        <p:xfrm>
          <a:off x="6035040" y="1920240"/>
          <a:ext cx="5349240" cy="2176272"/>
        </p:xfrm>
        <a:graphic>
          <a:graphicData uri="http://schemas.openxmlformats.org/drawingml/2006/table">
            <a:tbl>
              <a:tblPr/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Lesson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A1A1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YOLOv11s overfit (1200 imgs)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−2.4%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Larger model ≠ better on small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TL+DAFE v1 catastrophic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−15.5%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Cannot insert DAFE into fine-tuned 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YOLOv26n + transfer learning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−3.2%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COCO weights conflict with steel domain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Attention stacking (6 modules)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+0.1%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Diminishing returns, interference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5"/>
          <p:cNvSpPr/>
          <p:nvPr/>
        </p:nvSpPr>
        <p:spPr>
          <a:xfrm>
            <a:off x="54864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8.3 Critical Insights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548640" y="5102352"/>
            <a:ext cx="5349240" cy="621792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11" name="Text 7"/>
          <p:cNvSpPr/>
          <p:nvPr/>
        </p:nvSpPr>
        <p:spPr>
          <a:xfrm>
            <a:off x="731520" y="5157216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 &gt; Architecture: the recipe alone gave +3.0%; DAFE added +1.5% on top.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172200" y="5102352"/>
            <a:ext cx="5349240" cy="621792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13" name="Text 9"/>
          <p:cNvSpPr/>
          <p:nvPr/>
        </p:nvSpPr>
        <p:spPr>
          <a:xfrm>
            <a:off x="6355080" y="5157216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4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Crazing is the bottleneck: 48.6%–55.1% AP, still the hardest class.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548640" y="5833872"/>
            <a:ext cx="5349240" cy="621792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15" name="Text 11"/>
          <p:cNvSpPr/>
          <p:nvPr/>
        </p:nvSpPr>
        <p:spPr>
          <a:xfrm>
            <a:off x="731520" y="5888736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Precision-recall trade-off: DAFE +13.3% precision, −6.3% recall.</a:t>
            </a:r>
            <a:endParaRPr lang="en-US" sz="1200" dirty="0"/>
          </a:p>
        </p:txBody>
      </p:sp>
      <p:sp>
        <p:nvSpPr>
          <p:cNvPr id="6" name="Shape 12"/>
          <p:cNvSpPr/>
          <p:nvPr/>
        </p:nvSpPr>
        <p:spPr>
          <a:xfrm>
            <a:off x="6172200" y="5833872"/>
            <a:ext cx="5349240" cy="621792"/>
          </a:xfrm>
          <a:prstGeom prst="rect">
            <a:avLst/>
          </a:prstGeom>
          <a:solidFill>
            <a:srgbClr val="121722"/>
          </a:solidFill>
          <a:ln/>
        </p:spPr>
      </p:sp>
      <p:sp>
        <p:nvSpPr>
          <p:cNvPr id="17" name="Text 13"/>
          <p:cNvSpPr/>
          <p:nvPr/>
        </p:nvSpPr>
        <p:spPr>
          <a:xfrm>
            <a:off x="6355080" y="5888736"/>
            <a:ext cx="498348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E9ED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 learning overrated here: from-scratch matched or beat TL.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19" name="Text 15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 RECOMMENDATIONS FOR FUTURE WORK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13161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The Path to 83%+ mAP@0.5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48640" y="1115568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the remaining 2-point gap means more data, DAFE on the newer backbone, and crazing-specific fixes — plus deployment hardening.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3611880" cy="42519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828800"/>
            <a:ext cx="36118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828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REACH 83%+ mAP@0.5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77240" y="2505456"/>
            <a:ext cx="82296" cy="82296"/>
          </a:xfrm>
          <a:prstGeom prst="ellipse">
            <a:avLst/>
          </a:prstGeom>
          <a:solidFill>
            <a:srgbClr val="E8442C"/>
          </a:solidFill>
          <a:ln/>
        </p:spPr>
      </p:sp>
      <p:sp>
        <p:nvSpPr>
          <p:cNvPr id="9" name="Text 7"/>
          <p:cNvSpPr/>
          <p:nvPr/>
        </p:nvSpPr>
        <p:spPr>
          <a:xfrm>
            <a:off x="960120" y="24505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Multi-dataset training: combine NEU-DET with GC10-DET (3,570 additional grayscale steel images)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777240" y="3419856"/>
            <a:ext cx="82296" cy="82296"/>
          </a:xfrm>
          <a:prstGeom prst="ellipse">
            <a:avLst/>
          </a:prstGeom>
          <a:solidFill>
            <a:srgbClr val="E8442C"/>
          </a:solidFill>
          <a:ln/>
        </p:spPr>
      </p:sp>
      <p:sp>
        <p:nvSpPr>
          <p:cNvPr id="11" name="Text 9"/>
          <p:cNvSpPr/>
          <p:nvPr/>
        </p:nvSpPr>
        <p:spPr>
          <a:xfrm>
            <a:off x="960120" y="33649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1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DAFE on YOLOv26n: apply DAFE module to YOLOv26n backbone (not yet tested)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77240" y="4334256"/>
            <a:ext cx="82296" cy="82296"/>
          </a:xfrm>
          <a:prstGeom prst="ellipse">
            <a:avLst/>
          </a:prstGeom>
          <a:solidFill>
            <a:srgbClr val="E8442C"/>
          </a:solidFill>
          <a:ln/>
        </p:spPr>
      </p:sp>
      <p:sp>
        <p:nvSpPr>
          <p:cNvPr id="13" name="Text 11"/>
          <p:cNvSpPr/>
          <p:nvPr/>
        </p:nvSpPr>
        <p:spPr>
          <a:xfrm>
            <a:off x="960120" y="42793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augmentation: AutoAugment, Mosaic9, or MixUp variants optimized for defect textures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77240" y="5248656"/>
            <a:ext cx="82296" cy="82296"/>
          </a:xfrm>
          <a:prstGeom prst="ellipse">
            <a:avLst/>
          </a:prstGeom>
          <a:solidFill>
            <a:srgbClr val="E8442C"/>
          </a:solidFill>
          <a:ln/>
        </p:spPr>
      </p:sp>
      <p:sp>
        <p:nvSpPr>
          <p:cNvPr id="15" name="Text 13"/>
          <p:cNvSpPr/>
          <p:nvPr/>
        </p:nvSpPr>
        <p:spPr>
          <a:xfrm>
            <a:off x="960120" y="51937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Class-balanced sampling: oversample crazing or use focal loss with class-specific gamma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89120" y="1828800"/>
            <a:ext cx="3611880" cy="42519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17" name="Shape 15"/>
          <p:cNvSpPr/>
          <p:nvPr/>
        </p:nvSpPr>
        <p:spPr>
          <a:xfrm>
            <a:off x="4389120" y="1828800"/>
            <a:ext cx="36118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0" y="1828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IMPROVE CRAZING DETECTION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617720" y="2505456"/>
            <a:ext cx="82296" cy="82296"/>
          </a:xfrm>
          <a:prstGeom prst="ellipse">
            <a:avLst/>
          </a:prstGeom>
          <a:solidFill>
            <a:srgbClr val="E8442C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24505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Higher resolution crops: train on 1024+ with crazing-focused cropping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617720" y="3419856"/>
            <a:ext cx="82296" cy="82296"/>
          </a:xfrm>
          <a:prstGeom prst="ellipse">
            <a:avLst/>
          </a:prstGeom>
          <a:solidFill>
            <a:srgbClr val="E8442C"/>
          </a:solidFill>
          <a:ln/>
        </p:spPr>
      </p:sp>
      <p:sp>
        <p:nvSpPr>
          <p:cNvPr id="22" name="Text 20"/>
          <p:cNvSpPr/>
          <p:nvPr/>
        </p:nvSpPr>
        <p:spPr>
          <a:xfrm>
            <a:off x="4800600" y="33649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Edge-specific pre-processing: Sobel/Canny as additional input channel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617720" y="4334256"/>
            <a:ext cx="82296" cy="82296"/>
          </a:xfrm>
          <a:prstGeom prst="ellipse">
            <a:avLst/>
          </a:prstGeom>
          <a:solidFill>
            <a:srgbClr val="E8442C"/>
          </a:solidFill>
          <a:ln/>
        </p:spPr>
      </p:sp>
      <p:sp>
        <p:nvSpPr>
          <p:cNvPr id="24" name="Text 22"/>
          <p:cNvSpPr/>
          <p:nvPr/>
        </p:nvSpPr>
        <p:spPr>
          <a:xfrm>
            <a:off x="4800600" y="42793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data: generate synthetic crazing patterns to augment 689 real samples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229600" y="1828800"/>
            <a:ext cx="3611880" cy="4251960"/>
          </a:xfrm>
          <a:prstGeom prst="rect">
            <a:avLst/>
          </a:prstGeom>
          <a:solidFill>
            <a:srgbClr val="F4F5F7"/>
          </a:solidFill>
          <a:ln/>
        </p:spPr>
      </p:sp>
      <p:sp>
        <p:nvSpPr>
          <p:cNvPr id="26" name="Shape 24"/>
          <p:cNvSpPr/>
          <p:nvPr/>
        </p:nvSpPr>
        <p:spPr>
          <a:xfrm>
            <a:off x="8229600" y="1828800"/>
            <a:ext cx="3611880" cy="4572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0" y="1828800"/>
            <a:ext cx="3246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DEPLOYMENT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8458200" y="2505456"/>
            <a:ext cx="82296" cy="82296"/>
          </a:xfrm>
          <a:prstGeom prst="ellipse">
            <a:avLst/>
          </a:prstGeom>
          <a:solidFill>
            <a:srgbClr val="E8442C"/>
          </a:solidFill>
          <a:ln/>
        </p:spPr>
      </p:sp>
      <p:sp>
        <p:nvSpPr>
          <p:cNvPr id="29" name="Text 27"/>
          <p:cNvSpPr/>
          <p:nvPr/>
        </p:nvSpPr>
        <p:spPr>
          <a:xfrm>
            <a:off x="8641080" y="24505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ONNX export with TensorRT optimization for real-time inference (&gt;100 FPS)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458200" y="3419856"/>
            <a:ext cx="82296" cy="82296"/>
          </a:xfrm>
          <a:prstGeom prst="ellipse">
            <a:avLst/>
          </a:prstGeom>
          <a:solidFill>
            <a:srgbClr val="E8442C"/>
          </a:solidFill>
          <a:ln/>
        </p:spPr>
      </p:sp>
      <p:sp>
        <p:nvSpPr>
          <p:cNvPr id="31" name="Text 29"/>
          <p:cNvSpPr/>
          <p:nvPr/>
        </p:nvSpPr>
        <p:spPr>
          <a:xfrm>
            <a:off x="8641080" y="33649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pruning to reduce parameters while maintaining accuracy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8458200" y="4334256"/>
            <a:ext cx="82296" cy="82296"/>
          </a:xfrm>
          <a:prstGeom prst="ellipse">
            <a:avLst/>
          </a:prstGeom>
          <a:solidFill>
            <a:srgbClr val="E8442C"/>
          </a:solidFill>
          <a:ln/>
        </p:spPr>
      </p:sp>
      <p:sp>
        <p:nvSpPr>
          <p:cNvPr id="33" name="Text 31"/>
          <p:cNvSpPr/>
          <p:nvPr/>
        </p:nvSpPr>
        <p:spPr>
          <a:xfrm>
            <a:off x="8641080" y="4279392"/>
            <a:ext cx="3017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200" dirty="0">
                <a:solidFill>
                  <a:srgbClr val="3C44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Robustness hardening through perturbation-aware training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1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APPENDIX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30352"/>
            <a:ext cx="10515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File Inventory &amp; Experiment Folder 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48640" y="105156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 index of the raw result files and experiment folders behind every number in this report.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5727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A. File Inventory</a:t>
            </a:r>
            <a:endParaRPr lang="en-US" sz="11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5105438"/>
              </p:ext>
            </p:extLst>
          </p:nvPr>
        </p:nvGraphicFramePr>
        <p:xfrm>
          <a:off x="548640" y="1874520"/>
          <a:ext cx="6035040" cy="4504944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evals/master_results.json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Aggregated results for all experiments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evals/fresh_baseline_results.json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08 detailed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evals/exp_5a_digisteel_v4_dafe.json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10 DAFE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evals/yolov26n_neudet_results.json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 15 YOLOv26n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evals/yolov26n_transfer_learning_comparison.json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YOLOv26n TL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evals/tl_final_comparison.json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 stage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evals/tl_dafe_final_comparison.json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TL+DAFE v1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evals/tl_dafe_v2_final_comparison.json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TL+DAFE v2 comparison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evals/robustness_baseline_v2.csv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Baseline robustness sweep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evals/robustness_digisteel_v2.csv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DAFE robustness sweep data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evals/eda_results.json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Exploratory data analysis results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configs/models/digisteel.yaml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DAFE architecture config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E8442C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digisteel/modules/dafe.py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DAFE module implementation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766560" y="15727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Experiment Folder Map</a:t>
            </a:r>
            <a:endParaRPr lang="en-US" sz="1100" dirty="0"/>
          </a:p>
        </p:txBody>
      </p:sp>
      <p:graphicFrame>
        <p:nvGraphicFramePr>
          <p:cNvPr id="3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55451836"/>
              </p:ext>
            </p:extLst>
          </p:nvPr>
        </p:nvGraphicFramePr>
        <p:xfrm>
          <a:off x="6766560" y="1874520"/>
          <a:ext cx="4892040" cy="2971800"/>
        </p:xfrm>
        <a:graphic>
          <a:graphicData uri="http://schemas.openxmlformats.org/drawingml/2006/table">
            <a:tbl>
              <a:tblPr/>
              <a:tblGrid>
                <a:gridCol w="2606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Experiment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13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01_baseline_yolov11n_v1/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Old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06_week3_a1_config_fix/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Config Fix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07_week3_a2_arch_fix/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Architecture Fix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08_week4_fresh_baseline/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 Baseline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78.8%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10_dafe_v4/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DAFE v4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12_transfer_learning_yolov11n/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Transfer Learning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79.4%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14_tl_dafe_comparison/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TL + DAFE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63.3–78.6%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15_yolov26n_neudet/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YOLOv26n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b="1" dirty="0">
                          <a:solidFill>
                            <a:srgbClr val="E8442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81.0%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16_yolov26_transfer_learning/</a:t>
                      </a:r>
                      <a:endParaRPr lang="en-US" sz="105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E9EDF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YOLOv26n TL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050" dirty="0">
                          <a:solidFill>
                            <a:srgbClr val="8B95A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75.6%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24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72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9" name="Shape 5"/>
          <p:cNvSpPr/>
          <p:nvPr/>
        </p:nvSpPr>
        <p:spPr>
          <a:xfrm>
            <a:off x="6766560" y="5029200"/>
            <a:ext cx="4892040" cy="1188720"/>
          </a:xfrm>
          <a:prstGeom prst="rect">
            <a:avLst/>
          </a:prstGeom>
          <a:solidFill>
            <a:srgbClr val="2A1A16"/>
          </a:solidFill>
          <a:ln/>
        </p:spPr>
      </p:sp>
      <p:sp>
        <p:nvSpPr>
          <p:cNvPr id="10" name="Text 6"/>
          <p:cNvSpPr/>
          <p:nvPr/>
        </p:nvSpPr>
        <p:spPr>
          <a:xfrm>
            <a:off x="6995160" y="51480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E8442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RESULT</a:t>
            </a:r>
            <a:endParaRPr lang="en-US" sz="1000" dirty="0"/>
          </a:p>
        </p:txBody>
      </p:sp>
      <p:sp>
        <p:nvSpPr>
          <p:cNvPr id="11" name="Text 7"/>
          <p:cNvSpPr/>
          <p:nvPr/>
        </p:nvSpPr>
        <p:spPr>
          <a:xfrm>
            <a:off x="6995160" y="5422392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81.0% mAP@0.5 (YOLOv26n)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995160" y="580644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83% mAP@0.5  •  Report generated: July 12, 2026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57200" y="651967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DigiSteel-YOLO Final Report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5196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8B95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3426</Words>
  <Application>Microsoft Office PowerPoint</Application>
  <PresentationFormat>Widescreen</PresentationFormat>
  <Paragraphs>838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Bookman Old Style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Test</cp:lastModifiedBy>
  <cp:revision>5</cp:revision>
  <dcterms:created xsi:type="dcterms:W3CDTF">2026-07-26T05:50:49Z</dcterms:created>
  <dcterms:modified xsi:type="dcterms:W3CDTF">2026-07-26T09:00:27Z</dcterms:modified>
</cp:coreProperties>
</file>